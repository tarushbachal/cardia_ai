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</c:v>
                </c:pt>
              </c:strCache>
            </c:strRef>
          </c:tx>
          <c:spPr>
            <a:solidFill>
              <a:srgbClr val="2A6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2026</c:v>
                  </c:pt>
                  <c:pt idx="2">
                    <c:v>2028</c:v>
                  </c:pt>
                  <c:pt idx="3">
                    <c:v>2030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150</c:v>
                </c:pt>
                <c:pt idx="2">
                  <c:v>215</c:v>
                </c:pt>
                <c:pt idx="3">
                  <c:v>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666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3F5F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828800"/>
            <a:ext cx="5486400" cy="5486400"/>
          </a:xfrm>
          <a:prstGeom prst="ellipse">
            <a:avLst/>
          </a:prstGeom>
          <a:solidFill>
            <a:srgbClr val="2A6EBB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2377440"/>
            <a:ext cx="3657600" cy="3657600"/>
          </a:xfrm>
          <a:prstGeom prst="ellipse">
            <a:avLst/>
          </a:prstGeom>
          <a:solidFill>
            <a:srgbClr val="2A6EBB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CARDIA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79AF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your heart health with clinical precision.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58368" y="3154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guideline sourced cardiovascular biomarker platform.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OVERVIEW   · 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can't read their own bloodwork.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801368"/>
            <a:ext cx="457200" cy="45720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700784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numbers, no meaning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results arrive as a wall of figures with no plain language context. Patients are left to guess.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15184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3232" y="2862072"/>
            <a:ext cx="457200" cy="45720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2761488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bad?” → avoidance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07238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drives anxiety, and anxiety drives avoidance. Many never act on their results at all.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675888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922776"/>
            <a:ext cx="457200" cy="45720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822192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minute visits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133088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primary care visit leaves little time to explain every value against the guidelines.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Cardia turns lab values into clinical answers.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709928"/>
            <a:ext cx="310896" cy="310896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values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192938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labs you have, plus light context. Every marker optional.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51176"/>
            <a:ext cx="310896" cy="310896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32688" y="2487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is flagged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" y="277063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leads with the values outside guideline range, clearly prioritized.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392424"/>
            <a:ext cx="310896" cy="310896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32688" y="33284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 source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2688" y="3611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category links to the named, dated guideline behind 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92040" y="1417320"/>
            <a:ext cx="37947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120640" y="1645920"/>
            <a:ext cx="457200" cy="457200"/>
          </a:xfrm>
          <a:prstGeom prst="ellipse">
            <a:avLst/>
          </a:prstGeom>
          <a:solidFill>
            <a:srgbClr val="F8E5E1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1636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E2F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715000" y="168249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values outside guideline range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715000" y="1956816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for your physician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2331720"/>
            <a:ext cx="3337560" cy="0"/>
          </a:xfrm>
          <a:prstGeom prst="line">
            <a:avLst/>
          </a:prstGeom>
          <a:noFill/>
          <a:ln w="12700">
            <a:solidFill>
              <a:srgbClr val="E2E8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48072" y="2551176"/>
            <a:ext cx="109728" cy="109728"/>
          </a:xfrm>
          <a:prstGeom prst="ellipse">
            <a:avLst/>
          </a:prstGeom>
          <a:solidFill>
            <a:srgbClr val="D04A38"/>
          </a:solidFill>
          <a:ln/>
        </p:spPr>
      </p:sp>
      <p:sp>
        <p:nvSpPr>
          <p:cNvPr id="25" name="Text 23"/>
          <p:cNvSpPr/>
          <p:nvPr/>
        </p:nvSpPr>
        <p:spPr>
          <a:xfrm>
            <a:off x="5349240" y="2468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LDL cholesterol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720840" y="2468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 mg/dL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680960" y="2478024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8E5E1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0" y="247802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E2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148072" y="3118104"/>
            <a:ext cx="109728" cy="109728"/>
          </a:xfrm>
          <a:prstGeom prst="ellipse">
            <a:avLst/>
          </a:prstGeom>
          <a:solidFill>
            <a:srgbClr val="CF9A3A"/>
          </a:solidFill>
          <a:ln/>
        </p:spPr>
      </p:sp>
      <p:sp>
        <p:nvSpPr>
          <p:cNvPr id="30" name="Text 28"/>
          <p:cNvSpPr/>
          <p:nvPr/>
        </p:nvSpPr>
        <p:spPr>
          <a:xfrm>
            <a:off x="5349240" y="3035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720840" y="30358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680960" y="3044952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6EDD7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0" y="3044952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6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Prediabetes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48072" y="3685032"/>
            <a:ext cx="109728" cy="109728"/>
          </a:xfrm>
          <a:prstGeom prst="ellipse">
            <a:avLst/>
          </a:prstGeom>
          <a:solidFill>
            <a:srgbClr val="D04A38"/>
          </a:solidFill>
          <a:ln/>
        </p:spPr>
      </p:sp>
      <p:sp>
        <p:nvSpPr>
          <p:cNvPr id="35" name="Text 33"/>
          <p:cNvSpPr/>
          <p:nvPr/>
        </p:nvSpPr>
        <p:spPr>
          <a:xfrm>
            <a:off x="5349240" y="36027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 BP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720840" y="36027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 mmHg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80960" y="361188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8E5E1"/>
          </a:solidFill>
          <a:ln/>
        </p:spPr>
      </p:sp>
      <p:sp>
        <p:nvSpPr>
          <p:cNvPr id="38" name="Text 36"/>
          <p:cNvSpPr/>
          <p:nvPr/>
        </p:nvSpPr>
        <p:spPr>
          <a:xfrm>
            <a:off x="7680960" y="361188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E2F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things, done to a clinical standard.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69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874520"/>
            <a:ext cx="502920" cy="502920"/>
          </a:xfrm>
          <a:prstGeom prst="ellipse">
            <a:avLst/>
          </a:prstGeom>
          <a:solidFill>
            <a:srgbClr val="D04A3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65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7160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 first results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185416"/>
            <a:ext cx="3035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with the values outside guideline range, the way a clinician reviews a panel.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17720" y="1600200"/>
            <a:ext cx="4069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92040" y="1874520"/>
            <a:ext cx="502920" cy="50292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865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53212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biomarker library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532120" y="2185416"/>
            <a:ext cx="3035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reference for 12 markers, each range traced to a named guideline. A durable SEO asset.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4069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566160"/>
            <a:ext cx="502920" cy="502920"/>
          </a:xfrm>
          <a:prstGeom prst="ellipse">
            <a:avLst/>
          </a:prstGeom>
          <a:solidFill>
            <a:srgbClr val="4F9D7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ready report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71600" y="3877056"/>
            <a:ext cx="3035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 click printable summary to bring to an appointment.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17720" y="3291840"/>
            <a:ext cx="40690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92040" y="3566160"/>
            <a:ext cx="502920" cy="50292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53212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AI walkthrough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532120" y="3877056"/>
            <a:ext cx="3035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guardrailed plain language explanation, with a deterministic fallback so it never misfires.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A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Sourced medicine, not a black box model.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Cardia’s engine categorizes every value against published clinical guidelines, and shows the exact source. That transparency is the product, and the defensibility.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5420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Traceable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threshold carries its citation as data: name, body, year, link.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2331720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25420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93008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algorithm guessing your risk. Just current standards, made legible.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71616" y="2331720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0216" y="25420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to copy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0216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tested rules engine across 12 markers, not a prompt.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9A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Guidelines referenced:  ACC/AHA  ·  ADA  ·  ESC/EAS  ·  WHO  ·  NCEP ATP III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fast growing tailwind.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7919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64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6EB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2128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 app category is Health &amp; Fitness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64408" y="1554480"/>
            <a:ext cx="267919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47288" y="1664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6EB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 to 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47288" y="22128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conversion benchmark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71616" y="1554480"/>
            <a:ext cx="267919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54496" y="1664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6EB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4.6×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54496" y="221284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vs ad only ARPU</a:t>
            </a:r>
            <a:endParaRPr lang="en-US" sz="11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57200" y="2926080"/>
          <a:ext cx="548640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5720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health market, indexed (illustrative)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926080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5508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two waves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55080" y="3346704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 lab testing is booming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audiences track ApoB &amp; Lp(a), markers Cardia already covers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engines: consumer reach, business revenue.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406908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783080"/>
            <a:ext cx="457200" cy="45720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847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(freemium)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13232" y="2377440"/>
            <a:ext cx="3611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Free:  one assessment + the library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Plus  ~$6 to 9/mo:  saved history, trends, AI walkthrough, doctor PDF, family profiles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report  ~$4.99:  the doctor PDF, no subscription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1554480"/>
            <a:ext cx="406908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73752" y="1783080"/>
            <a:ext cx="457200" cy="457200"/>
          </a:xfrm>
          <a:prstGeom prst="ellipse">
            <a:avLst/>
          </a:prstGeom>
          <a:solidFill>
            <a:srgbClr val="112430"/>
          </a:solidFill>
          <a:ln/>
        </p:spPr>
      </p:sp>
      <p:sp>
        <p:nvSpPr>
          <p:cNvPr id="13" name="Text 11"/>
          <p:cNvSpPr/>
          <p:nvPr/>
        </p:nvSpPr>
        <p:spPr>
          <a:xfrm>
            <a:off x="487375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0" y="18470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(the revenue engine)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73752" y="2377440"/>
            <a:ext cx="3611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the engine + UI as an embeddable “lab value interpretation” layer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labs, telehealth, clinics, employers, pharmacies, payers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referrals to at home lab tests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5902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land consumers, expand into B2B licensing.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cost, compounding channels first.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758952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801368"/>
            <a:ext cx="256032" cy="256032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library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143000" y="19476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biomarker page ranks for “normal LDL range,” “what is ApoB,” high intent and near zero cost.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589520" y="179222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7EFF8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0" y="17922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2404872"/>
            <a:ext cx="8229600" cy="758952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2651760"/>
            <a:ext cx="256032" cy="256032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video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43000" y="279806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/ Reels / Shorts: “what your HbA1c actually means.” Health edutainment performs.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55264"/>
            <a:ext cx="8229600" cy="758952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02152"/>
            <a:ext cx="256032" cy="256032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3374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43000" y="364845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r/PeterAttia, r/Cholesterol, r/longevity, where people already ask “is this bad?”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105656"/>
            <a:ext cx="8229600" cy="758952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52544"/>
            <a:ext cx="256032" cy="256032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+ lab partnerships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43000" y="449884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creators and at home lab partnerships. Paid ads only once organic validates.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Built, deployed, and ready to monetize.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371600" y="2331720"/>
            <a:ext cx="6400800" cy="0"/>
          </a:xfrm>
          <a:prstGeom prst="line">
            <a:avLst/>
          </a:prstGeom>
          <a:noFill/>
          <a:ln w="25400">
            <a:solidFill>
              <a:srgbClr val="E2E8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83080" y="2194560"/>
            <a:ext cx="274320" cy="274320"/>
          </a:xfrm>
          <a:prstGeom prst="ellipse">
            <a:avLst/>
          </a:prstGeom>
          <a:solidFill>
            <a:srgbClr val="4F9D77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697480"/>
            <a:ext cx="267919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90779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4F9D77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9077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2918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Phases 1 to 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363931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engine, danger first UI, biomarker library, deployed on Vercel + Supabase.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90288" y="2194560"/>
            <a:ext cx="274320" cy="274320"/>
          </a:xfrm>
          <a:prstGeom prst="ellipse">
            <a:avLst/>
          </a:prstGeom>
          <a:solidFill>
            <a:srgbClr val="2A6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3264408" y="2697480"/>
            <a:ext cx="267919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93008" y="290779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A6EBB"/>
          </a:solidFill>
          <a:ln/>
        </p:spPr>
      </p:sp>
      <p:sp>
        <p:nvSpPr>
          <p:cNvPr id="16" name="Text 14"/>
          <p:cNvSpPr/>
          <p:nvPr/>
        </p:nvSpPr>
        <p:spPr>
          <a:xfrm>
            <a:off x="3493008" y="29077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93008" y="32918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Productize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93008" y="363931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Stripe billing, premium features (saved history, trends, doctor PDF).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97496" y="2194560"/>
            <a:ext cx="274320" cy="274320"/>
          </a:xfrm>
          <a:prstGeom prst="ellipse">
            <a:avLst/>
          </a:prstGeom>
          <a:solidFill>
            <a:srgbClr val="112430"/>
          </a:solidFill>
          <a:ln/>
        </p:spPr>
      </p:sp>
      <p:sp>
        <p:nvSpPr>
          <p:cNvPr id="20" name="Shape 18"/>
          <p:cNvSpPr/>
          <p:nvPr/>
        </p:nvSpPr>
        <p:spPr>
          <a:xfrm>
            <a:off x="6071616" y="2697480"/>
            <a:ext cx="267919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0216" y="290779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12430"/>
          </a:solidFill>
          <a:ln/>
        </p:spPr>
      </p:sp>
      <p:sp>
        <p:nvSpPr>
          <p:cNvPr id="22" name="Text 20"/>
          <p:cNvSpPr/>
          <p:nvPr/>
        </p:nvSpPr>
        <p:spPr>
          <a:xfrm>
            <a:off x="6300216" y="29077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0216" y="32918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 &amp; license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300216" y="363931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+ video flywheel; first B2B pilots; iterate pricing.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 by design. No rewrite to scale.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7190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 ·  React 19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 (Postgres, Auth, RLS)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 (global edge hosting)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65760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100k+ users on the same architecture. The clinical rules engine is free local compute, so there is no per-use cost to run a result.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43400" y="162763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yearly run cost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965960"/>
          <a:ext cx="43434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7373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Infra / yr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2430"/>
                          </a:solidFill>
                        </a:rPr>
                        <a:t>Launch  (0 to 2k users)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7150"/>
                          </a:solidFill>
                        </a:rPr>
                        <a:t>~$555 to 650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2430"/>
                          </a:solidFill>
                        </a:rPr>
                        <a:t>Growth  (10 to 50k MAU)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F7150"/>
                          </a:solidFill>
                        </a:rPr>
                        <a:t>~$1,000 to 2,400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343400" y="4023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commercial tiers from day one (Vercel Pro + Supabase Pro), for the license, backups, and uptime a sellable product needs. Plus payment fees on revenue (2.9% + $0.30). The AI layer is out of scope, so it adds nothing to run cost.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Cardia wins.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463040"/>
                <a:gridCol w="146304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Cardia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AI chatbot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Lab portal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Doctor visit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43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12430"/>
                          </a:solidFill>
                        </a:rPr>
                        <a:t>Sourced to guidelines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12430"/>
                          </a:solidFill>
                        </a:rPr>
                        <a:t>Plain language, instant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12430"/>
                          </a:solidFill>
                        </a:rPr>
                        <a:t>Won't invent advice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12430"/>
                          </a:solidFill>
                        </a:rPr>
                        <a:t>Always available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F715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9AA5AC"/>
                          </a:solidFill>
                        </a:rPr>
                        <a:t>·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Cardia’s niche: the trust of a guideline source with the speed of software.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Cheap to serve, recurring to earn.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1755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6EB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58368" y="23774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 of a free assessment (local rules engine)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64408" y="160020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65576" y="1755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9D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~$50/yr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465576" y="23774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Plus ARPU (annual plan)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71616" y="1600200"/>
            <a:ext cx="267919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72784" y="1755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272784" y="23774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contract value vs. thousands of consumer subs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3291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 one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free base (SEO + video) converts a few percent to a high retention annual subscription, while a handful of B2B licenses provide the revenue floor. Because serving cost is near zero, contribution margins are strong from day one.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A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would want to own this.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trusted bloodwork interpretation layer is a natural addition for anyone who already touches lab results. Build usage and a B2B beachhead, and Cardia becomes an attractive acquisition or licensing target.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4323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companies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Labcorp, Quest, Function Health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64408" y="22860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5576" y="24323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Telehealth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65576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Hims &amp; Hers, Teladoc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71616" y="22860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72784" y="24323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Insurers / payers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72784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Optum and peers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483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8368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Oura, Whoop, Apple / Samsung Health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64408" y="333756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65576" y="3483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tech health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465576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Health / One Medical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71616" y="333756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1B3543"/>
          </a:solidFill>
          <a:ln w="12700">
            <a:solidFill>
              <a:srgbClr val="2C4A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4838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272784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health &amp; clinics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(“Amazon One” is palm payment biometrics, not a buyer; the relevant Amazon arm is Amazon Health.)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6E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035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1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90-day path to first revenue.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 ·  Stakeholder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92938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2A6EB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293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 to 4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48840" y="182880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accounts, Stripe billing, and the paywall. Turn on premium features. Custom domain + legal pages.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67004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" y="2953512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2A6EB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9535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 to 8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48840" y="2852928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SEO library; launch the short form video channel; seed communities.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694176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EC"/>
            </a:solidFill>
            <a:prstDash val="solid"/>
          </a:ln>
          <a:effectLst>
            <a:outerShdw sx="100000" sy="100000" kx="0" ky="0" algn="bl" rotWithShape="0" blurRad="114300" dist="38100" dir="8100000">
              <a:srgbClr val="11243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97764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2A6EB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9776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6 to 12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48840" y="3877056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to 5 to 10 lab / telehealth partners for a licensing or affiliate pilot.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2377440"/>
            <a:ext cx="4572000" cy="4572000"/>
          </a:xfrm>
          <a:prstGeom prst="ellipse">
            <a:avLst/>
          </a:prstGeom>
          <a:solidFill>
            <a:srgbClr val="2A6EBB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CARDIA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5836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79AF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your heart health with clinical precision.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58368" y="2971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grade. Sourced. Lean to run. Ready to monetize.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7818120" cy="0"/>
          </a:xfrm>
          <a:prstGeom prst="line">
            <a:avLst/>
          </a:prstGeom>
          <a:noFill/>
          <a:ln w="12700">
            <a:solidFill>
              <a:srgbClr val="2C4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29768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BA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 is a general wellness tool. It is not a medical device and does not diagnose, treat, or predict disease. Figures shown are benchmark based estimates.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Cardia : Stakeholder Overview</dc:title>
  <dc:subject>PptxGenJS Presentation</dc:subject>
  <dc:creator>Cardia</dc:creator>
  <cp:lastModifiedBy>Cardia</cp:lastModifiedBy>
  <cp:revision>1</cp:revision>
  <dcterms:created xsi:type="dcterms:W3CDTF">2026-06-22T21:39:49Z</dcterms:created>
  <dcterms:modified xsi:type="dcterms:W3CDTF">2026-06-22T21:39:49Z</dcterms:modified>
</cp:coreProperties>
</file>