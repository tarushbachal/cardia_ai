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2A6E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2026</c:v>
                  </c:pt>
                  <c:pt idx="2">
                    <c:v>2028</c:v>
                  </c:pt>
                  <c:pt idx="3">
                    <c:v>2030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215</c:v>
                </c:pt>
                <c:pt idx="3">
                  <c:v>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666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3F5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828800"/>
            <a:ext cx="5486400" cy="5486400"/>
          </a:xfrm>
          <a:prstGeom prst="ellipse">
            <a:avLst/>
          </a:prstGeom>
          <a:solidFill>
            <a:srgbClr val="2A6EB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377440"/>
            <a:ext cx="3657600" cy="3657600"/>
          </a:xfrm>
          <a:prstGeom prst="ellipse">
            <a:avLst/>
          </a:prstGeom>
          <a:solidFill>
            <a:srgbClr val="2A6EB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CARDIA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58368" y="2468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79A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your heart health with clinical precision.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3154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guideline sourced cardiovascular biomarker platform.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OVERVIEW   · 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can't read their own bloodwork.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 ·  Stakeholder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801368"/>
            <a:ext cx="457200" cy="457200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70078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numbers, no meaning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 arrive as a wall of figures with no plain language context. Patients are left to guess.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82296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2862072"/>
            <a:ext cx="457200" cy="457200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76148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bad?” → avoidance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07238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drives anxiety, and anxiety drives avoidance. Many never act on their results at all.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82296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3922776"/>
            <a:ext cx="457200" cy="457200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82219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minute visits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3308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primary care visit leaves little time to explain every value against the guidelines.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Cardia turns lab values into clinical answers.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 ·  Stakeholder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09928"/>
            <a:ext cx="310896" cy="310896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00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values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19293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labs you have, plus light context. Every marker optional.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551176"/>
            <a:ext cx="310896" cy="310896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" y="2487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is flagged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" y="27706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leads with the values outside guideline range, clearly prioritized.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392424"/>
            <a:ext cx="310896" cy="310896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688" y="3328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source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" y="36118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links to the named, dated guideline behind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1417320"/>
            <a:ext cx="37947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0" y="1645920"/>
            <a:ext cx="457200" cy="457200"/>
          </a:xfrm>
          <a:prstGeom prst="ellipse">
            <a:avLst/>
          </a:prstGeom>
          <a:solidFill>
            <a:srgbClr val="F8E5E1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E2F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15000" y="16824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values outside guideline range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715000" y="195681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for your physician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0" y="2331720"/>
            <a:ext cx="3337560" cy="0"/>
          </a:xfrm>
          <a:prstGeom prst="line">
            <a:avLst/>
          </a:prstGeom>
          <a:noFill/>
          <a:ln w="12700">
            <a:solidFill>
              <a:srgbClr val="E2E8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8072" y="2551176"/>
            <a:ext cx="109728" cy="109728"/>
          </a:xfrm>
          <a:prstGeom prst="ellipse">
            <a:avLst/>
          </a:prstGeom>
          <a:solidFill>
            <a:srgbClr val="D04A38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LDL cholesterol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2084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 mg/dL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80960" y="2478024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8E5E1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247802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48072" y="3118104"/>
            <a:ext cx="109728" cy="109728"/>
          </a:xfrm>
          <a:prstGeom prst="ellipse">
            <a:avLst/>
          </a:prstGeom>
          <a:solidFill>
            <a:srgbClr val="CF9A3A"/>
          </a:solidFill>
          <a:ln/>
        </p:spPr>
      </p:sp>
      <p:sp>
        <p:nvSpPr>
          <p:cNvPr id="30" name="Text 28"/>
          <p:cNvSpPr/>
          <p:nvPr/>
        </p:nvSpPr>
        <p:spPr>
          <a:xfrm>
            <a:off x="5349240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20840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80960" y="304495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6EDD7"/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0" y="30449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Prediabetes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48072" y="3685032"/>
            <a:ext cx="109728" cy="109728"/>
          </a:xfrm>
          <a:prstGeom prst="ellipse">
            <a:avLst/>
          </a:prstGeom>
          <a:solidFill>
            <a:srgbClr val="D04A38"/>
          </a:solidFill>
          <a:ln/>
        </p:spPr>
      </p:sp>
      <p:sp>
        <p:nvSpPr>
          <p:cNvPr id="35" name="Text 33"/>
          <p:cNvSpPr/>
          <p:nvPr/>
        </p:nvSpPr>
        <p:spPr>
          <a:xfrm>
            <a:off x="5349240" y="3602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20840" y="3602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mmHg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80960" y="361188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8E5E1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0" y="361188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2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things, done to a clinical standard.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 ·  Stakeholder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D04A3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65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first results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185416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with the values outside guideline range, the way a clinician reviews a panel.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60020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874520"/>
            <a:ext cx="502920" cy="502920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865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53212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biomarker library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32120" y="2185416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reference for 12 markers, each range traced to a named guideline. A durable SEO asset.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566160"/>
            <a:ext cx="502920" cy="502920"/>
          </a:xfrm>
          <a:prstGeom prst="ellipse">
            <a:avLst/>
          </a:prstGeom>
          <a:solidFill>
            <a:srgbClr val="4F9D7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3547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ready report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877056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 click printable summary to bring to an appointment.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329184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3566160"/>
            <a:ext cx="502920" cy="502920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532120" y="3547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 walkthrough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32120" y="3877056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guardrailed plain language explanation, with a deterministic fallback so it never misfires.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 ·  Stakeholder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9A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Sourced medicine, not a black box model.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Cardia’s engine categorizes every value against published clinical guidelines, and shows the exact source. That transparency is the product, and the defensibility.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1B3543"/>
          </a:solidFill>
          <a:ln w="12700">
            <a:solidFill>
              <a:srgbClr val="2C4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420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Traceable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threshold carries its citation as data: name, body, year, link.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4408" y="233172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1B3543"/>
          </a:solidFill>
          <a:ln w="12700">
            <a:solidFill>
              <a:srgbClr val="2C4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5420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93008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algorithm guessing your risk. Just current standards, made legible.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71616" y="233172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1B3543"/>
          </a:solidFill>
          <a:ln w="12700">
            <a:solidFill>
              <a:srgbClr val="2C4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25420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to copy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0216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boundary tested rules engine across 12 markers, not a prompt.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9A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referenced:  ACC/AHA  ·  ADA  ·  ESC/EAS  ·  WHO  ·  NCEP ATP III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large, fast growing tailwind.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 ·  Stakeholder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791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642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6E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app category is Health &amp; Fitness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554480"/>
            <a:ext cx="26791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7288" y="16642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6E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 to 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47288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conversion benchmark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1554480"/>
            <a:ext cx="26791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16642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6E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54496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vs ad only ARPU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2926080"/>
          <a:ext cx="548640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 market, indexed (illustrative)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72200" y="292608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55080" y="3072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Riding two waves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55080" y="3346704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home lab testing is booming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 audiences track ApoB &amp; Lp(a), markers Cardia already covers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engines: consumer reach, business revenue.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 ·  Stakeholder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0690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783080"/>
            <a:ext cx="457200" cy="457200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847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(freemium)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377440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 one assessment + the library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Plus  ~$6 to 9/mo:  saved history, trends, AI walkthrough, doctor PDF, family profiles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report  ~$4.99:  the doctor PDF, no subscription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554480"/>
            <a:ext cx="40690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73752" y="1783080"/>
            <a:ext cx="457200" cy="457200"/>
          </a:xfrm>
          <a:prstGeom prst="ellipse">
            <a:avLst/>
          </a:prstGeom>
          <a:solidFill>
            <a:srgbClr val="112430"/>
          </a:solidFill>
          <a:ln/>
        </p:spPr>
      </p:sp>
      <p:sp>
        <p:nvSpPr>
          <p:cNvPr id="13" name="Text 11"/>
          <p:cNvSpPr/>
          <p:nvPr/>
        </p:nvSpPr>
        <p:spPr>
          <a:xfrm>
            <a:off x="4873752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1847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(the revenue engine)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73752" y="2377440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the engine + UI as an embeddable “lab value interpretation” layer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labs, telehealth, clinics, employers, pharmacies, payers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referrals to at home lab tests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land consumers, expand into B2B licensing.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cost, compounding channels first.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 ·  Stakeholder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801368"/>
            <a:ext cx="256032" cy="256032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library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43000" y="194767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biomarker page ranks for “normal LDL range,” “what is ApoB,” high intent and near zero cost.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89520" y="179222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1792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2651760"/>
            <a:ext cx="256032" cy="256032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523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form video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43000" y="279806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/ Reels / Shorts: “what your HbA1c actually means.” Health edutainment performs.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3502152"/>
            <a:ext cx="256032" cy="256032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374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43000" y="364845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r/PeterAttia, r/Cholesterol, r/longevity, where people already ask “is this bad?”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05656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352544"/>
            <a:ext cx="256032" cy="256032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+ lab partnerships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43000" y="44988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 creators and at home lab partnerships. Paid ads only once organic validates.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Built, deployed, and ready to monetize.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 ·  Stakeholder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2331720"/>
            <a:ext cx="6400800" cy="0"/>
          </a:xfrm>
          <a:prstGeom prst="line">
            <a:avLst/>
          </a:prstGeom>
          <a:noFill/>
          <a:ln w="25400">
            <a:solidFill>
              <a:srgbClr val="E2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3080" y="2194560"/>
            <a:ext cx="274320" cy="274320"/>
          </a:xfrm>
          <a:prstGeom prst="ellipse">
            <a:avLst/>
          </a:prstGeom>
          <a:solidFill>
            <a:srgbClr val="4F9D7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697480"/>
            <a:ext cx="26791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90779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4F9D7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077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Phases 1 to 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36393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engine, danger first UI, biomarker library, deployed on Vercel + Supabase.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90288" y="2194560"/>
            <a:ext cx="274320" cy="274320"/>
          </a:xfrm>
          <a:prstGeom prst="ellipse">
            <a:avLst/>
          </a:prstGeom>
          <a:solidFill>
            <a:srgbClr val="2A6EB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64408" y="2697480"/>
            <a:ext cx="26791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93008" y="290779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A6EBB"/>
          </a:solidFill>
          <a:ln/>
        </p:spPr>
      </p:sp>
      <p:sp>
        <p:nvSpPr>
          <p:cNvPr id="16" name="Text 14"/>
          <p:cNvSpPr/>
          <p:nvPr/>
        </p:nvSpPr>
        <p:spPr>
          <a:xfrm>
            <a:off x="3493008" y="29077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93008" y="3291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Productize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93008" y="36393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Stripe billing, premium features (saved history, trends, doctor PDF).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97496" y="2194560"/>
            <a:ext cx="274320" cy="274320"/>
          </a:xfrm>
          <a:prstGeom prst="ellipse">
            <a:avLst/>
          </a:prstGeom>
          <a:solidFill>
            <a:srgbClr val="112430"/>
          </a:solidFill>
          <a:ln/>
        </p:spPr>
      </p:sp>
      <p:sp>
        <p:nvSpPr>
          <p:cNvPr id="20" name="Shape 18"/>
          <p:cNvSpPr/>
          <p:nvPr/>
        </p:nvSpPr>
        <p:spPr>
          <a:xfrm>
            <a:off x="6071616" y="2697480"/>
            <a:ext cx="26791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0216" y="290779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12430"/>
          </a:solidFill>
          <a:ln/>
        </p:spPr>
      </p:sp>
      <p:sp>
        <p:nvSpPr>
          <p:cNvPr id="22" name="Text 20"/>
          <p:cNvSpPr/>
          <p:nvPr/>
        </p:nvSpPr>
        <p:spPr>
          <a:xfrm>
            <a:off x="6300216" y="29077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0216" y="3291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&amp; license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00216" y="36393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video flywheel; first B2B pilots; iterate pricing.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by design. No rewrite to scale.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 ·  Stakeholder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 ·  React 19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 (Postgres, Auth, RLS)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 (global edge hosting)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100k+ users on the same architecture. The clinical rules engine is free local compute, so there is no per-use cost to run a result.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43400" y="16276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yearly run cost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965960"/>
          <a:ext cx="434340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7373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Infra / yr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2430"/>
                          </a:solidFill>
                        </a:rPr>
                        <a:t>Launch  (free tiers)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7150"/>
                          </a:solidFill>
                        </a:rPr>
                        <a:t>~$15 to 50  (domain)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2430"/>
                          </a:solidFill>
                        </a:rPr>
                        <a:t>Growth  (paid tiers)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7150"/>
                          </a:solidFill>
                        </a:rPr>
                        <a:t>~$540 to 800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343400" y="402336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on Vercel and Supabase free tiers; you only pay for Pro tiers once revenue justifies it. Plus payment fees on revenue (2.9% + $0.30). The AI layer is out of scope, so it adds nothing to run cost.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Cardia wins.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 ·  Stakeholder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Cardia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AI chatbot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Lab portal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Doctor visit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3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2430"/>
                          </a:solidFill>
                        </a:rPr>
                        <a:t>Sourced to guidelines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715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9AA5AC"/>
                          </a:solidFill>
                        </a:rPr>
                        <a:t>·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9AA5AC"/>
                          </a:solidFill>
                        </a:rPr>
                        <a:t>·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715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2430"/>
                          </a:solidFill>
                        </a:rPr>
                        <a:t>Plain language, instant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715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715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9AA5AC"/>
                          </a:solidFill>
                        </a:rPr>
                        <a:t>·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9AA5AC"/>
                          </a:solidFill>
                        </a:rPr>
                        <a:t>·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2430"/>
                          </a:solidFill>
                        </a:rPr>
                        <a:t>Won't invent advice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715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9AA5AC"/>
                          </a:solidFill>
                        </a:rPr>
                        <a:t>·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715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715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2430"/>
                          </a:solidFill>
                        </a:rPr>
                        <a:t>Always available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715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715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715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9AA5AC"/>
                          </a:solidFill>
                        </a:rPr>
                        <a:t>·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Cardia’s niche: the trust of a guideline source with the speed of software.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 to serve, recurring to earn.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 ·  Stakeholder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7556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6E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58368" y="2377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of a free assessment (local rules engine)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60020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65576" y="17556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9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~$50/yr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65576" y="2377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Plus ARPU (annual plan)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1600200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17556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72784" y="2377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contract value vs. thousands of consumer subs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 one 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611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free base (SEO + video) converts a few percent to a high retention annual subscription, while a handful of B2B licenses provide the revenue floor. Because serving cost is near zero, contribution margins are strong from day one.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 ·  Stakeholder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9A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would want to own this.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bloodwork interpretation layer is a natural addition for anyone who already touches lab results. Build usage and a B2B beachhead, and Cardia becomes an attractive acquisition or licensing target.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1B3543"/>
          </a:solidFill>
          <a:ln w="12700">
            <a:solidFill>
              <a:srgbClr val="2C4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432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companies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Labcorp, Quest, Function Health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4408" y="228600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1B3543"/>
          </a:solidFill>
          <a:ln w="12700">
            <a:solidFill>
              <a:srgbClr val="2C4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2432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65576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Hims &amp; Hers, Teladoc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71616" y="228600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1B3543"/>
          </a:solidFill>
          <a:ln w="12700">
            <a:solidFill>
              <a:srgbClr val="2C4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2432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/ payers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72784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Optum and peers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1B3543"/>
          </a:solidFill>
          <a:ln w="12700">
            <a:solidFill>
              <a:srgbClr val="2C4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83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Oura, Whoop, Apple / Samsung Health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64408" y="333756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1B3543"/>
          </a:solidFill>
          <a:ln w="12700">
            <a:solidFill>
              <a:srgbClr val="2C4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65576" y="3483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tech health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65576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Health / One Medical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71616" y="3337560"/>
            <a:ext cx="2615184" cy="914400"/>
          </a:xfrm>
          <a:prstGeom prst="roundRect">
            <a:avLst>
              <a:gd name="adj" fmla="val 8000"/>
            </a:avLst>
          </a:prstGeom>
          <a:solidFill>
            <a:srgbClr val="1B3543"/>
          </a:solidFill>
          <a:ln w="12700">
            <a:solidFill>
              <a:srgbClr val="2C4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483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72784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health &amp; clinics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(“Amazon One” is palm payment biometrics, not a buyer; the relevant Amazon arm is Amazon Health.)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90-day path to first revenue.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 ·  Stakeholder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92938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2A6EB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293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to 4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48840" y="182880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accounts, Stripe billing, and the paywall. Turn on premium features. Custom domain + legal pages.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953512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2A6EB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535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 to 8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48840" y="285292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SEO library; launch the short form video channel; seed communities.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94176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114300" dist="38100" dir="8100000">
              <a:srgbClr val="1124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97764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2A6EB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776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 to 12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48840" y="387705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to 5 to 10 lab / telehealth partners for a licensing or affiliate pilot.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2377440"/>
            <a:ext cx="4572000" cy="4572000"/>
          </a:xfrm>
          <a:prstGeom prst="ellipse">
            <a:avLst/>
          </a:prstGeom>
          <a:solidFill>
            <a:srgbClr val="2A6EBB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58368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79A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your heart health with clinical precision.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2971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grade. Sourced. Lean to run. Ready to monetize.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4160520"/>
            <a:ext cx="7818120" cy="0"/>
          </a:xfrm>
          <a:prstGeom prst="line">
            <a:avLst/>
          </a:prstGeom>
          <a:noFill/>
          <a:ln w="12700">
            <a:solidFill>
              <a:srgbClr val="2C4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297680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BA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 is a general wellness tool. It is not a medical device and does not diagnose, treat, or predict disease. Figures shown are benchmark based estimates.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Cardia : Stakeholder Overview</dc:title>
  <dc:subject>PptxGenJS Presentation</dc:subject>
  <dc:creator>Cardia</dc:creator>
  <cp:lastModifiedBy>Cardia</cp:lastModifiedBy>
  <cp:revision>1</cp:revision>
  <dcterms:created xsi:type="dcterms:W3CDTF">2026-06-22T21:34:32Z</dcterms:created>
  <dcterms:modified xsi:type="dcterms:W3CDTF">2026-06-22T21:34:32Z</dcterms:modified>
</cp:coreProperties>
</file>